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9144000"/>
  <p:notesSz cx="6858000" cy="9144000"/>
  <p:embeddedFontLst>
    <p:embeddedFont>
      <p:font typeface="Inter Light"/>
      <p:regular r:id="rId15"/>
      <p:bold r:id="rId16"/>
      <p:italic r:id="rId17"/>
      <p:boldItalic r:id="rId18"/>
    </p:embeddedFont>
    <p:embeddedFont>
      <p:font typeface="Inter SemiBold"/>
      <p:regular r:id="rId19"/>
      <p:bold r:id="rId20"/>
      <p:italic r:id="rId21"/>
      <p:boldItalic r:id="rId22"/>
    </p:embeddedFont>
    <p:embeddedFont>
      <p:font typeface="Montserrat Black"/>
      <p:bold r:id="rId23"/>
      <p:boldItalic r:id="rId24"/>
    </p:embeddedFont>
    <p:embeddedFont>
      <p:font typeface="Montserrat"/>
      <p:bold r:id="rId25"/>
      <p:boldItalic r:id="rId26"/>
    </p:embeddedFont>
    <p:embeddedFont>
      <p:font typeface="Inter"/>
      <p:bold r:id="rId27"/>
      <p:boldItalic r:id="rId28"/>
    </p:embeddedFont>
    <p:embeddedFont>
      <p:font typeface="Montserrat Medium"/>
      <p:regular r:id="rId29"/>
      <p:bold r:id="rId30"/>
      <p:italic r:id="rId31"/>
      <p:boldItalic r:id="rId32"/>
    </p:embeddedFont>
    <p:embeddedFont>
      <p:font typeface="Inter ExtraBold"/>
      <p:bold r:id="rId33"/>
      <p:boldItalic r:id="rId34"/>
    </p:embeddedFont>
    <p:embeddedFont>
      <p:font typeface="Montserrat ExtraBold"/>
      <p:bold r:id="rId35"/>
      <p:boldItalic r:id="rId36"/>
    </p:embeddedFont>
    <p:embeddedFont>
      <p:font typeface="Inter Medium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1" roundtripDataSignature="AMtx7mie51GNZNMkRYThteJd7NGGuGxI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Medium-boldItalic.fntdata"/><Relationship Id="rId20" Type="http://schemas.openxmlformats.org/officeDocument/2006/relationships/font" Target="fonts/InterSemiBold-bold.fntdata"/><Relationship Id="rId41" Type="http://customschemas.google.com/relationships/presentationmetadata" Target="metadata"/><Relationship Id="rId22" Type="http://schemas.openxmlformats.org/officeDocument/2006/relationships/font" Target="fonts/InterSemiBold-boldItalic.fntdata"/><Relationship Id="rId21" Type="http://schemas.openxmlformats.org/officeDocument/2006/relationships/font" Target="fonts/InterSemiBold-italic.fntdata"/><Relationship Id="rId24" Type="http://schemas.openxmlformats.org/officeDocument/2006/relationships/font" Target="fonts/MontserratBlack-boldItalic.fntdata"/><Relationship Id="rId23" Type="http://schemas.openxmlformats.org/officeDocument/2006/relationships/font" Target="fonts/MontserratBlack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Medium-italic.fntdata"/><Relationship Id="rId30" Type="http://schemas.openxmlformats.org/officeDocument/2006/relationships/font" Target="fonts/MontserratMedium-bold.fntdata"/><Relationship Id="rId11" Type="http://schemas.openxmlformats.org/officeDocument/2006/relationships/slide" Target="slides/slide6.xml"/><Relationship Id="rId33" Type="http://schemas.openxmlformats.org/officeDocument/2006/relationships/font" Target="fonts/InterExtraBold-bold.fntdata"/><Relationship Id="rId10" Type="http://schemas.openxmlformats.org/officeDocument/2006/relationships/slide" Target="slides/slide5.xml"/><Relationship Id="rId32" Type="http://schemas.openxmlformats.org/officeDocument/2006/relationships/font" Target="fonts/MontserratMedium-boldItalic.fntdata"/><Relationship Id="rId13" Type="http://schemas.openxmlformats.org/officeDocument/2006/relationships/slide" Target="slides/slide8.xml"/><Relationship Id="rId35" Type="http://schemas.openxmlformats.org/officeDocument/2006/relationships/font" Target="fonts/MontserratExtraBold-bold.fntdata"/><Relationship Id="rId12" Type="http://schemas.openxmlformats.org/officeDocument/2006/relationships/slide" Target="slides/slide7.xml"/><Relationship Id="rId34" Type="http://schemas.openxmlformats.org/officeDocument/2006/relationships/font" Target="fonts/InterExtraBold-boldItalic.fntdata"/><Relationship Id="rId15" Type="http://schemas.openxmlformats.org/officeDocument/2006/relationships/font" Target="fonts/InterLight-regular.fntdata"/><Relationship Id="rId37" Type="http://schemas.openxmlformats.org/officeDocument/2006/relationships/font" Target="fonts/InterMedium-regular.fntdata"/><Relationship Id="rId14" Type="http://schemas.openxmlformats.org/officeDocument/2006/relationships/slide" Target="slides/slide9.xml"/><Relationship Id="rId36" Type="http://schemas.openxmlformats.org/officeDocument/2006/relationships/font" Target="fonts/MontserratExtraBold-boldItalic.fntdata"/><Relationship Id="rId17" Type="http://schemas.openxmlformats.org/officeDocument/2006/relationships/font" Target="fonts/InterLight-italic.fntdata"/><Relationship Id="rId39" Type="http://schemas.openxmlformats.org/officeDocument/2006/relationships/font" Target="fonts/InterMedium-italic.fntdata"/><Relationship Id="rId16" Type="http://schemas.openxmlformats.org/officeDocument/2006/relationships/font" Target="fonts/InterLight-bold.fntdata"/><Relationship Id="rId38" Type="http://schemas.openxmlformats.org/officeDocument/2006/relationships/font" Target="fonts/InterMedium-bold.fntdata"/><Relationship Id="rId19" Type="http://schemas.openxmlformats.org/officeDocument/2006/relationships/font" Target="fonts/InterSemiBold-regular.fntdata"/><Relationship Id="rId18" Type="http://schemas.openxmlformats.org/officeDocument/2006/relationships/font" Target="fonts/InterLigh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hatGPT Image Aug 10, 2026, 02_55_37 PM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>
            <p:ph type="ctrTitle"/>
          </p:nvPr>
        </p:nvSpPr>
        <p:spPr>
          <a:xfrm>
            <a:off x="571500" y="1333500"/>
            <a:ext cx="4762500" cy="190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600">
                <a:solidFill>
                  <a:srgbClr val="FF9F1C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TASTYBITES</a:t>
            </a:r>
            <a:endParaRPr b="0" sz="4600">
              <a:solidFill>
                <a:srgbClr val="FF9F1C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SALES &amp; PROFITABILITY</a:t>
            </a:r>
            <a:br>
              <a:rPr b="1"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lang="en-US" sz="1600">
                <a:solidFill>
                  <a:srgbClr val="A0AEC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ANALYSIS</a:t>
            </a:r>
            <a:endParaRPr b="1"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"/>
          <p:cNvSpPr txBox="1"/>
          <p:nvPr>
            <p:ph idx="1" type="subTitle"/>
          </p:nvPr>
        </p:nvSpPr>
        <p:spPr>
          <a:xfrm>
            <a:off x="571500" y="3619500"/>
            <a:ext cx="4286400" cy="142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b="0" i="1" lang="en-US" sz="180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"Uncovering what drives </a:t>
            </a:r>
            <a:r>
              <a:rPr b="0" i="0" lang="en-US" sz="1800">
                <a:solidFill>
                  <a:srgbClr val="FF9F1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profit</a:t>
            </a:r>
            <a:r>
              <a:rPr b="0" i="1" lang="en-US" sz="180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,</a:t>
            </a:r>
            <a:endParaRPr b="0" i="1" sz="1800">
              <a:solidFill>
                <a:srgbClr val="CBD5E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i="1" lang="en-US" sz="180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not just sales."</a:t>
            </a:r>
            <a:endParaRPr b="0" i="1" sz="1800">
              <a:solidFill>
                <a:srgbClr val="CBD5E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571500" y="5524500"/>
            <a:ext cx="4286400" cy="413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Prepared by</a:t>
            </a:r>
            <a:endParaRPr b="0" sz="1200">
              <a:solidFill>
                <a:srgbClr val="94A3B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Chandan Kumar Chauhan</a:t>
            </a:r>
            <a:endParaRPr b="0" sz="13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0" y="0"/>
            <a:ext cx="9144000" cy="57300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"/>
          <p:cNvSpPr txBox="1"/>
          <p:nvPr/>
        </p:nvSpPr>
        <p:spPr>
          <a:xfrm>
            <a:off x="228600" y="190500"/>
            <a:ext cx="86868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F243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1. Executive Summary</a:t>
            </a:r>
            <a:endParaRPr b="0" sz="2400">
              <a:solidFill>
                <a:srgbClr val="0F243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228600" y="666750"/>
            <a:ext cx="86868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TastyBites continues to deliver strong top-line with healthy profitability, but </a:t>
            </a:r>
            <a:r>
              <a:rPr b="1" lang="en-US" sz="130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margin leakage due to discounting</a:t>
            </a:r>
            <a:r>
              <a:rPr b="0" lang="en-US" sz="1300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needs immediate attention.</a:t>
            </a:r>
            <a:endParaRPr b="0" sz="1300">
              <a:solidFill>
                <a:srgbClr val="334155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95" name="Google Shape;95;p2"/>
          <p:cNvGrpSpPr/>
          <p:nvPr/>
        </p:nvGrpSpPr>
        <p:grpSpPr>
          <a:xfrm>
            <a:off x="228600" y="1238250"/>
            <a:ext cx="8667750" cy="857400"/>
            <a:chOff x="228600" y="1238250"/>
            <a:chExt cx="8667750" cy="857400"/>
          </a:xfrm>
        </p:grpSpPr>
        <p:sp>
          <p:nvSpPr>
            <p:cNvPr id="96" name="Google Shape;96;p2"/>
            <p:cNvSpPr/>
            <p:nvPr/>
          </p:nvSpPr>
          <p:spPr>
            <a:xfrm>
              <a:off x="228600" y="1238250"/>
              <a:ext cx="1333500" cy="8574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"/>
            <p:cNvSpPr txBox="1"/>
            <p:nvPr/>
          </p:nvSpPr>
          <p:spPr>
            <a:xfrm>
              <a:off x="228600" y="1238250"/>
              <a:ext cx="1333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Total Revenue</a:t>
              </a:r>
              <a:endParaRPr b="0" sz="9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4F46E5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25.52M</a:t>
              </a:r>
              <a:endParaRPr b="0" sz="2000">
                <a:solidFill>
                  <a:srgbClr val="4F46E5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1695450" y="1238250"/>
              <a:ext cx="1333500" cy="8574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695450" y="1238250"/>
              <a:ext cx="1333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Total Profit</a:t>
              </a:r>
              <a:endParaRPr b="0" sz="9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4F46E5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11.30M</a:t>
              </a:r>
              <a:endParaRPr b="0" sz="2000">
                <a:solidFill>
                  <a:srgbClr val="4F46E5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3162300" y="1238250"/>
              <a:ext cx="1333500" cy="8574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"/>
            <p:cNvSpPr txBox="1"/>
            <p:nvPr/>
          </p:nvSpPr>
          <p:spPr>
            <a:xfrm>
              <a:off x="3162300" y="1238250"/>
              <a:ext cx="1333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Profit Margin</a:t>
              </a:r>
              <a:endParaRPr b="0" sz="9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10B98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44.28%</a:t>
              </a:r>
              <a:endParaRPr b="0" sz="2000">
                <a:solidFill>
                  <a:srgbClr val="10B98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4629150" y="1238250"/>
              <a:ext cx="1333500" cy="8574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4629150" y="1238250"/>
              <a:ext cx="1333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Quantity Sold</a:t>
              </a:r>
              <a:endParaRPr b="0" sz="9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4F46E5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181K</a:t>
              </a:r>
              <a:endParaRPr b="0" sz="2000">
                <a:solidFill>
                  <a:srgbClr val="4F46E5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6096000" y="1238250"/>
              <a:ext cx="1333500" cy="8574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6096000" y="1238250"/>
              <a:ext cx="1333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Avg Discount</a:t>
              </a:r>
              <a:endParaRPr b="0" sz="9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F59E0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8.88%</a:t>
              </a:r>
              <a:endParaRPr b="0" sz="2000">
                <a:solidFill>
                  <a:srgbClr val="F59E0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7562850" y="1238250"/>
              <a:ext cx="1333500" cy="8574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2"/>
            <p:cNvSpPr txBox="1"/>
            <p:nvPr/>
          </p:nvSpPr>
          <p:spPr>
            <a:xfrm>
              <a:off x="7562850" y="1238250"/>
              <a:ext cx="1333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Avg Unit Price</a:t>
              </a:r>
              <a:endParaRPr b="0" sz="9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4F46E5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154.36</a:t>
              </a:r>
              <a:endParaRPr b="0" sz="2000">
                <a:solidFill>
                  <a:srgbClr val="4F46E5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08" name="Google Shape;108;p2"/>
          <p:cNvGrpSpPr/>
          <p:nvPr/>
        </p:nvGrpSpPr>
        <p:grpSpPr>
          <a:xfrm>
            <a:off x="228600" y="2238375"/>
            <a:ext cx="4248300" cy="3048000"/>
            <a:chOff x="0" y="0"/>
            <a:chExt cx="4248300" cy="3048000"/>
          </a:xfrm>
        </p:grpSpPr>
        <p:sp>
          <p:nvSpPr>
            <p:cNvPr id="109" name="Google Shape;109;p2"/>
            <p:cNvSpPr/>
            <p:nvPr/>
          </p:nvSpPr>
          <p:spPr>
            <a:xfrm>
              <a:off x="0" y="0"/>
              <a:ext cx="4248300" cy="3048000"/>
            </a:xfrm>
            <a:prstGeom prst="roundRect">
              <a:avLst>
                <a:gd fmla="val 25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0" name="Google Shape;110;p2"/>
            <p:cNvPicPr preferRelativeResize="0"/>
            <p:nvPr/>
          </p:nvPicPr>
          <p:blipFill rotWithShape="1">
            <a:blip r:embed="rId4">
              <a:alphaModFix/>
            </a:blip>
            <a:srcRect b="1305" l="0" r="0" t="1305"/>
            <a:stretch/>
          </p:blipFill>
          <p:spPr>
            <a:xfrm>
              <a:off x="76200" y="76200"/>
              <a:ext cx="4095900" cy="2895600"/>
            </a:xfrm>
            <a:prstGeom prst="roundRect">
              <a:avLst>
                <a:gd fmla="val 1315" name="adj"/>
              </a:avLst>
            </a:prstGeom>
            <a:noFill/>
            <a:ln>
              <a:noFill/>
            </a:ln>
          </p:spPr>
        </p:pic>
      </p:grpSp>
      <p:grpSp>
        <p:nvGrpSpPr>
          <p:cNvPr id="111" name="Google Shape;111;p2"/>
          <p:cNvGrpSpPr/>
          <p:nvPr/>
        </p:nvGrpSpPr>
        <p:grpSpPr>
          <a:xfrm>
            <a:off x="4667250" y="2238375"/>
            <a:ext cx="4248300" cy="3048000"/>
            <a:chOff x="0" y="0"/>
            <a:chExt cx="4248300" cy="3048000"/>
          </a:xfrm>
        </p:grpSpPr>
        <p:sp>
          <p:nvSpPr>
            <p:cNvPr id="112" name="Google Shape;112;p2"/>
            <p:cNvSpPr/>
            <p:nvPr/>
          </p:nvSpPr>
          <p:spPr>
            <a:xfrm>
              <a:off x="0" y="0"/>
              <a:ext cx="4248300" cy="3048000"/>
            </a:xfrm>
            <a:prstGeom prst="roundRect">
              <a:avLst>
                <a:gd fmla="val 25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3" name="Google Shape;113;p2"/>
            <p:cNvPicPr preferRelativeResize="0"/>
            <p:nvPr/>
          </p:nvPicPr>
          <p:blipFill rotWithShape="1">
            <a:blip r:embed="rId5">
              <a:alphaModFix/>
            </a:blip>
            <a:srcRect b="0" l="14530" r="14523" t="0"/>
            <a:stretch/>
          </p:blipFill>
          <p:spPr>
            <a:xfrm>
              <a:off x="76200" y="76200"/>
              <a:ext cx="4095900" cy="2895600"/>
            </a:xfrm>
            <a:prstGeom prst="roundRect">
              <a:avLst>
                <a:gd fmla="val 1315" name="adj"/>
              </a:avLst>
            </a:prstGeom>
            <a:noFill/>
            <a:ln>
              <a:noFill/>
            </a:ln>
          </p:spPr>
        </p:pic>
      </p:grpSp>
      <p:grpSp>
        <p:nvGrpSpPr>
          <p:cNvPr id="114" name="Google Shape;114;p2"/>
          <p:cNvGrpSpPr/>
          <p:nvPr/>
        </p:nvGrpSpPr>
        <p:grpSpPr>
          <a:xfrm>
            <a:off x="228600" y="5476875"/>
            <a:ext cx="8686800" cy="1047900"/>
            <a:chOff x="0" y="0"/>
            <a:chExt cx="8686800" cy="1047900"/>
          </a:xfrm>
        </p:grpSpPr>
        <p:sp>
          <p:nvSpPr>
            <p:cNvPr id="115" name="Google Shape;115;p2"/>
            <p:cNvSpPr/>
            <p:nvPr/>
          </p:nvSpPr>
          <p:spPr>
            <a:xfrm>
              <a:off x="0" y="0"/>
              <a:ext cx="8686800" cy="1047900"/>
            </a:xfrm>
            <a:prstGeom prst="roundRect">
              <a:avLst>
                <a:gd fmla="val 7272" name="adj"/>
              </a:avLst>
            </a:prstGeom>
            <a:solidFill>
              <a:srgbClr val="FFF7ED"/>
            </a:solidFill>
            <a:ln cap="flat" cmpd="sng" w="9525">
              <a:solidFill>
                <a:srgbClr val="FFED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0" y="0"/>
              <a:ext cx="57300" cy="1047900"/>
            </a:xfrm>
            <a:prstGeom prst="roundRect">
              <a:avLst>
                <a:gd fmla="val 50000" name="adj"/>
              </a:avLst>
            </a:prstGeom>
            <a:solidFill>
              <a:srgbClr val="FF9F1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228600" y="0"/>
              <a:ext cx="82296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9525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FF9F1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Key Takeaway</a:t>
              </a:r>
              <a:r>
                <a:rPr b="0" lang="en-US" sz="1250">
                  <a:solidFill>
                    <a:srgbClr val="1E293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Strong revenue base with </a:t>
              </a:r>
              <a:r>
                <a:rPr b="1" lang="en-US" sz="125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44.28%</a:t>
              </a:r>
              <a:r>
                <a:rPr b="0" lang="en-US" sz="1250">
                  <a:solidFill>
                    <a:srgbClr val="1E293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profit margin. </a:t>
              </a:r>
              <a:r>
                <a:rPr b="1" lang="en-US" sz="1250">
                  <a:solidFill>
                    <a:srgbClr val="4F46E5"/>
                  </a:solidFill>
                  <a:latin typeface="Inter"/>
                  <a:ea typeface="Inter"/>
                  <a:cs typeface="Inter"/>
                  <a:sym typeface="Inter"/>
                </a:rPr>
                <a:t>Meals</a:t>
              </a:r>
              <a:r>
                <a:rPr b="0" lang="en-US" sz="1250">
                  <a:solidFill>
                    <a:srgbClr val="1E293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is the biggest profit contributor, driving more than </a:t>
              </a:r>
              <a:r>
                <a:rPr b="1" lang="en-US" sz="1250">
                  <a:solidFill>
                    <a:srgbClr val="4F46E5"/>
                  </a:solidFill>
                  <a:latin typeface="Inter"/>
                  <a:ea typeface="Inter"/>
                  <a:cs typeface="Inter"/>
                  <a:sym typeface="Inter"/>
                </a:rPr>
                <a:t>two-thirds</a:t>
              </a:r>
              <a:r>
                <a:rPr b="0" lang="en-US" sz="1250">
                  <a:solidFill>
                    <a:srgbClr val="1E293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of total profit.</a:t>
              </a:r>
              <a:endParaRPr b="0" sz="125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3"/>
          <p:cNvGrpSpPr/>
          <p:nvPr/>
        </p:nvGrpSpPr>
        <p:grpSpPr>
          <a:xfrm>
            <a:off x="228600" y="190500"/>
            <a:ext cx="8686800" cy="428700"/>
            <a:chOff x="0" y="0"/>
            <a:chExt cx="8686800" cy="428700"/>
          </a:xfrm>
        </p:grpSpPr>
        <p:sp>
          <p:nvSpPr>
            <p:cNvPr id="123" name="Google Shape;123;p3"/>
            <p:cNvSpPr/>
            <p:nvPr/>
          </p:nvSpPr>
          <p:spPr>
            <a:xfrm>
              <a:off x="0" y="0"/>
              <a:ext cx="86868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3"/>
            <p:cNvSpPr txBox="1"/>
            <p:nvPr/>
          </p:nvSpPr>
          <p:spPr>
            <a:xfrm>
              <a:off x="0" y="0"/>
              <a:ext cx="86868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0F243E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2. GROWTH STORY - MONTHLY PERFORMANCE</a:t>
              </a:r>
              <a:endParaRPr b="0" sz="2400">
                <a:solidFill>
                  <a:srgbClr val="0F243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</p:grpSp>
      <p:grpSp>
        <p:nvGrpSpPr>
          <p:cNvPr id="125" name="Google Shape;125;p3"/>
          <p:cNvGrpSpPr/>
          <p:nvPr/>
        </p:nvGrpSpPr>
        <p:grpSpPr>
          <a:xfrm>
            <a:off x="228600" y="714375"/>
            <a:ext cx="8686800" cy="476400"/>
            <a:chOff x="0" y="0"/>
            <a:chExt cx="8686800" cy="476400"/>
          </a:xfrm>
        </p:grpSpPr>
        <p:sp>
          <p:nvSpPr>
            <p:cNvPr id="126" name="Google Shape;126;p3"/>
            <p:cNvSpPr/>
            <p:nvPr/>
          </p:nvSpPr>
          <p:spPr>
            <a:xfrm>
              <a:off x="0" y="0"/>
              <a:ext cx="86868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3"/>
            <p:cNvSpPr txBox="1"/>
            <p:nvPr/>
          </p:nvSpPr>
          <p:spPr>
            <a:xfrm>
              <a:off x="0" y="0"/>
              <a:ext cx="86868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Revenue shows seasonality with strong Peak in Nov-Dec and profit follow similar trend, through margin fluctuates.</a:t>
              </a:r>
              <a:endParaRPr b="0" sz="130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28" name="Google Shape;128;p3"/>
          <p:cNvGrpSpPr/>
          <p:nvPr/>
        </p:nvGrpSpPr>
        <p:grpSpPr>
          <a:xfrm>
            <a:off x="228600" y="1333500"/>
            <a:ext cx="8686800" cy="3905400"/>
            <a:chOff x="228600" y="1333500"/>
            <a:chExt cx="8686800" cy="3905400"/>
          </a:xfrm>
        </p:grpSpPr>
        <p:sp>
          <p:nvSpPr>
            <p:cNvPr id="129" name="Google Shape;129;p3"/>
            <p:cNvSpPr/>
            <p:nvPr/>
          </p:nvSpPr>
          <p:spPr>
            <a:xfrm>
              <a:off x="228600" y="1333500"/>
              <a:ext cx="8686800" cy="3905400"/>
            </a:xfrm>
            <a:prstGeom prst="roundRect">
              <a:avLst>
                <a:gd fmla="val 195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0" name="Google Shape;130;p3"/>
            <p:cNvPicPr preferRelativeResize="0"/>
            <p:nvPr/>
          </p:nvPicPr>
          <p:blipFill rotWithShape="1">
            <a:blip r:embed="rId4">
              <a:alphaModFix/>
            </a:blip>
            <a:srcRect b="12063" l="0" r="0" t="12070"/>
            <a:stretch/>
          </p:blipFill>
          <p:spPr>
            <a:xfrm>
              <a:off x="381000" y="1476375"/>
              <a:ext cx="8382000" cy="3619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1" name="Google Shape;131;p3"/>
          <p:cNvGrpSpPr/>
          <p:nvPr/>
        </p:nvGrpSpPr>
        <p:grpSpPr>
          <a:xfrm>
            <a:off x="228600" y="5476875"/>
            <a:ext cx="8686800" cy="1047900"/>
            <a:chOff x="0" y="0"/>
            <a:chExt cx="8686800" cy="1047900"/>
          </a:xfrm>
        </p:grpSpPr>
        <p:sp>
          <p:nvSpPr>
            <p:cNvPr id="132" name="Google Shape;132;p3"/>
            <p:cNvSpPr/>
            <p:nvPr/>
          </p:nvSpPr>
          <p:spPr>
            <a:xfrm>
              <a:off x="0" y="0"/>
              <a:ext cx="8686800" cy="1047900"/>
            </a:xfrm>
            <a:prstGeom prst="roundRect">
              <a:avLst>
                <a:gd fmla="val 7272" name="adj"/>
              </a:avLst>
            </a:prstGeom>
            <a:solidFill>
              <a:srgbClr val="FFF7ED"/>
            </a:solidFill>
            <a:ln cap="flat" cmpd="sng" w="9525">
              <a:solidFill>
                <a:srgbClr val="FFED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0" y="0"/>
              <a:ext cx="57300" cy="1047900"/>
            </a:xfrm>
            <a:prstGeom prst="roundRect">
              <a:avLst>
                <a:gd fmla="val 50000" name="adj"/>
              </a:avLst>
            </a:prstGeom>
            <a:solidFill>
              <a:srgbClr val="FF9F1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3"/>
            <p:cNvSpPr txBox="1"/>
            <p:nvPr/>
          </p:nvSpPr>
          <p:spPr>
            <a:xfrm>
              <a:off x="228600" y="0"/>
              <a:ext cx="82296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9525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FF9F1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Key Takeaway </a:t>
              </a:r>
              <a:r>
                <a:rPr b="0" lang="en-US" sz="1250">
                  <a:solidFill>
                    <a:srgbClr val="1E293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Q4 is our strongest quarter. We should plan inventory, promotion and champaigns ahead of the festive season to maximize impact</a:t>
              </a:r>
              <a:endParaRPr b="0" sz="1100">
                <a:solidFill>
                  <a:srgbClr val="FF9F1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4"/>
          <p:cNvPicPr preferRelativeResize="0"/>
          <p:nvPr/>
        </p:nvPicPr>
        <p:blipFill rotWithShape="1">
          <a:blip r:embed="rId3">
            <a:alphaModFix/>
          </a:blip>
          <a:srcRect b="0" l="12503" r="12495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4"/>
          <p:cNvSpPr/>
          <p:nvPr/>
        </p:nvSpPr>
        <p:spPr>
          <a:xfrm>
            <a:off x="0" y="0"/>
            <a:ext cx="9144000" cy="57300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1" name="Google Shape;141;p4"/>
          <p:cNvGrpSpPr/>
          <p:nvPr/>
        </p:nvGrpSpPr>
        <p:grpSpPr>
          <a:xfrm>
            <a:off x="228600" y="190500"/>
            <a:ext cx="8686800" cy="428700"/>
            <a:chOff x="0" y="0"/>
            <a:chExt cx="8686800" cy="428700"/>
          </a:xfrm>
        </p:grpSpPr>
        <p:sp>
          <p:nvSpPr>
            <p:cNvPr id="142" name="Google Shape;142;p4"/>
            <p:cNvSpPr/>
            <p:nvPr/>
          </p:nvSpPr>
          <p:spPr>
            <a:xfrm>
              <a:off x="0" y="0"/>
              <a:ext cx="86868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4"/>
            <p:cNvSpPr txBox="1"/>
            <p:nvPr/>
          </p:nvSpPr>
          <p:spPr>
            <a:xfrm>
              <a:off x="0" y="0"/>
              <a:ext cx="86868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0F243E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3. PRODUCT PERFORMANCE – REVENUE &amp; PROFIT</a:t>
              </a:r>
              <a:endParaRPr b="0" sz="2400">
                <a:solidFill>
                  <a:srgbClr val="0F243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</p:grpSp>
      <p:grpSp>
        <p:nvGrpSpPr>
          <p:cNvPr id="144" name="Google Shape;144;p4"/>
          <p:cNvGrpSpPr/>
          <p:nvPr/>
        </p:nvGrpSpPr>
        <p:grpSpPr>
          <a:xfrm>
            <a:off x="228600" y="666750"/>
            <a:ext cx="8686800" cy="476400"/>
            <a:chOff x="0" y="0"/>
            <a:chExt cx="8686800" cy="476400"/>
          </a:xfrm>
        </p:grpSpPr>
        <p:sp>
          <p:nvSpPr>
            <p:cNvPr id="145" name="Google Shape;145;p4"/>
            <p:cNvSpPr/>
            <p:nvPr/>
          </p:nvSpPr>
          <p:spPr>
            <a:xfrm>
              <a:off x="0" y="0"/>
              <a:ext cx="86868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4"/>
            <p:cNvSpPr txBox="1"/>
            <p:nvPr/>
          </p:nvSpPr>
          <p:spPr>
            <a:xfrm>
              <a:off x="0" y="0"/>
              <a:ext cx="86868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Some products drive revenue but not profit. </a:t>
              </a:r>
              <a:r>
                <a:rPr b="1" lang="en-US" sz="1300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We must focus on profit-led growth.</a:t>
              </a:r>
              <a:endParaRPr b="0" sz="1300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47" name="Google Shape;147;p4"/>
          <p:cNvGrpSpPr/>
          <p:nvPr/>
        </p:nvGrpSpPr>
        <p:grpSpPr>
          <a:xfrm>
            <a:off x="228600" y="1333500"/>
            <a:ext cx="4248300" cy="3905400"/>
            <a:chOff x="0" y="0"/>
            <a:chExt cx="4248300" cy="3905400"/>
          </a:xfrm>
        </p:grpSpPr>
        <p:sp>
          <p:nvSpPr>
            <p:cNvPr id="148" name="Google Shape;148;p4"/>
            <p:cNvSpPr/>
            <p:nvPr/>
          </p:nvSpPr>
          <p:spPr>
            <a:xfrm>
              <a:off x="0" y="0"/>
              <a:ext cx="4248300" cy="3905400"/>
            </a:xfrm>
            <a:prstGeom prst="roundRect">
              <a:avLst>
                <a:gd fmla="val 195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4"/>
            <p:cNvSpPr txBox="1"/>
            <p:nvPr/>
          </p:nvSpPr>
          <p:spPr>
            <a:xfrm>
              <a:off x="152400" y="152400"/>
              <a:ext cx="3943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243E"/>
                  </a:solidFill>
                  <a:latin typeface="Inter"/>
                  <a:ea typeface="Inter"/>
                  <a:cs typeface="Inter"/>
                  <a:sym typeface="Inter"/>
                </a:rPr>
                <a:t>Top 10 Products by Revenue</a:t>
              </a:r>
              <a:endParaRPr b="1" sz="1200">
                <a:solidFill>
                  <a:srgbClr val="0F243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50" name="Google Shape;150;p4"/>
            <p:cNvPicPr preferRelativeResize="0"/>
            <p:nvPr/>
          </p:nvPicPr>
          <p:blipFill rotWithShape="1">
            <a:blip r:embed="rId4">
              <a:alphaModFix/>
            </a:blip>
            <a:srcRect b="0" l="12825" r="12825" t="0"/>
            <a:stretch/>
          </p:blipFill>
          <p:spPr>
            <a:xfrm>
              <a:off x="76200" y="476250"/>
              <a:ext cx="4095900" cy="3276600"/>
            </a:xfrm>
            <a:prstGeom prst="roundRect">
              <a:avLst>
                <a:gd fmla="val 1162" name="adj"/>
              </a:avLst>
            </a:prstGeom>
            <a:noFill/>
            <a:ln>
              <a:noFill/>
            </a:ln>
          </p:spPr>
        </p:pic>
      </p:grpSp>
      <p:grpSp>
        <p:nvGrpSpPr>
          <p:cNvPr id="151" name="Google Shape;151;p4"/>
          <p:cNvGrpSpPr/>
          <p:nvPr/>
        </p:nvGrpSpPr>
        <p:grpSpPr>
          <a:xfrm>
            <a:off x="4667250" y="1333500"/>
            <a:ext cx="4248300" cy="3905400"/>
            <a:chOff x="0" y="0"/>
            <a:chExt cx="4248300" cy="3905400"/>
          </a:xfrm>
        </p:grpSpPr>
        <p:sp>
          <p:nvSpPr>
            <p:cNvPr id="152" name="Google Shape;152;p4"/>
            <p:cNvSpPr/>
            <p:nvPr/>
          </p:nvSpPr>
          <p:spPr>
            <a:xfrm>
              <a:off x="0" y="0"/>
              <a:ext cx="4248300" cy="3905400"/>
            </a:xfrm>
            <a:prstGeom prst="roundRect">
              <a:avLst>
                <a:gd fmla="val 195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4"/>
            <p:cNvSpPr txBox="1"/>
            <p:nvPr/>
          </p:nvSpPr>
          <p:spPr>
            <a:xfrm>
              <a:off x="152400" y="152400"/>
              <a:ext cx="3943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E36C09"/>
                  </a:solidFill>
                  <a:latin typeface="Inter"/>
                  <a:ea typeface="Inter"/>
                  <a:cs typeface="Inter"/>
                  <a:sym typeface="Inter"/>
                </a:rPr>
                <a:t>Top 10 Products by Profit</a:t>
              </a:r>
              <a:endParaRPr b="1" sz="1200">
                <a:solidFill>
                  <a:srgbClr val="E36C0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54" name="Google Shape;154;p4"/>
            <p:cNvPicPr preferRelativeResize="0"/>
            <p:nvPr/>
          </p:nvPicPr>
          <p:blipFill rotWithShape="1">
            <a:blip r:embed="rId5">
              <a:alphaModFix/>
            </a:blip>
            <a:srcRect b="0" l="19021" r="19021" t="0"/>
            <a:stretch/>
          </p:blipFill>
          <p:spPr>
            <a:xfrm>
              <a:off x="76200" y="476250"/>
              <a:ext cx="4095900" cy="3276600"/>
            </a:xfrm>
            <a:prstGeom prst="roundRect">
              <a:avLst>
                <a:gd fmla="val 1162" name="adj"/>
              </a:avLst>
            </a:prstGeom>
            <a:noFill/>
            <a:ln>
              <a:noFill/>
            </a:ln>
          </p:spPr>
        </p:pic>
      </p:grpSp>
      <p:grpSp>
        <p:nvGrpSpPr>
          <p:cNvPr id="155" name="Google Shape;155;p4"/>
          <p:cNvGrpSpPr/>
          <p:nvPr/>
        </p:nvGrpSpPr>
        <p:grpSpPr>
          <a:xfrm>
            <a:off x="228600" y="5476875"/>
            <a:ext cx="8686800" cy="1047900"/>
            <a:chOff x="0" y="0"/>
            <a:chExt cx="8686800" cy="1047900"/>
          </a:xfrm>
        </p:grpSpPr>
        <p:sp>
          <p:nvSpPr>
            <p:cNvPr id="156" name="Google Shape;156;p4"/>
            <p:cNvSpPr/>
            <p:nvPr/>
          </p:nvSpPr>
          <p:spPr>
            <a:xfrm>
              <a:off x="0" y="0"/>
              <a:ext cx="8686800" cy="1047900"/>
            </a:xfrm>
            <a:prstGeom prst="roundRect">
              <a:avLst>
                <a:gd fmla="val 7272" name="adj"/>
              </a:avLst>
            </a:prstGeom>
            <a:solidFill>
              <a:srgbClr val="FFF7ED"/>
            </a:solidFill>
            <a:ln cap="flat" cmpd="sng" w="9525">
              <a:solidFill>
                <a:srgbClr val="FFED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4"/>
            <p:cNvSpPr/>
            <p:nvPr/>
          </p:nvSpPr>
          <p:spPr>
            <a:xfrm>
              <a:off x="0" y="0"/>
              <a:ext cx="57300" cy="1047900"/>
            </a:xfrm>
            <a:prstGeom prst="roundRect">
              <a:avLst>
                <a:gd fmla="val 50000" name="adj"/>
              </a:avLst>
            </a:prstGeom>
            <a:solidFill>
              <a:srgbClr val="FF9F1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4"/>
            <p:cNvSpPr txBox="1"/>
            <p:nvPr/>
          </p:nvSpPr>
          <p:spPr>
            <a:xfrm>
              <a:off x="228600" y="0"/>
              <a:ext cx="82296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9525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FF9F1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Profit Growth Insight </a:t>
              </a:r>
              <a:r>
                <a:rPr b="0" lang="en-US" sz="1250">
                  <a:solidFill>
                    <a:srgbClr val="1E293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Promote our best-performing products like </a:t>
              </a:r>
              <a:r>
                <a:rPr b="1" lang="en-US" sz="125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Veg Biryani, Chicken Biryani, and Chicken Burger</a:t>
              </a:r>
              <a:r>
                <a:rPr b="0" lang="en-US" sz="1250">
                  <a:solidFill>
                    <a:srgbClr val="1E293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more, while improving the pricing and costs of </a:t>
              </a:r>
              <a:r>
                <a:rPr b="1" lang="en-US" sz="1250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Veg Burger and Paneer Butter Chicken</a:t>
              </a:r>
              <a:r>
                <a:rPr b="0" lang="en-US" sz="1250">
                  <a:solidFill>
                    <a:srgbClr val="1E293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so they generate more profit from their strong sales.</a:t>
              </a:r>
              <a:endParaRPr b="0" sz="1100">
                <a:solidFill>
                  <a:srgbClr val="FF9F1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5"/>
          <p:cNvGrpSpPr/>
          <p:nvPr/>
        </p:nvGrpSpPr>
        <p:grpSpPr>
          <a:xfrm>
            <a:off x="228600" y="190500"/>
            <a:ext cx="8686800" cy="428700"/>
            <a:chOff x="0" y="0"/>
            <a:chExt cx="8686800" cy="428700"/>
          </a:xfrm>
        </p:grpSpPr>
        <p:sp>
          <p:nvSpPr>
            <p:cNvPr id="164" name="Google Shape;164;p5"/>
            <p:cNvSpPr/>
            <p:nvPr/>
          </p:nvSpPr>
          <p:spPr>
            <a:xfrm>
              <a:off x="0" y="0"/>
              <a:ext cx="86868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5"/>
            <p:cNvSpPr txBox="1"/>
            <p:nvPr/>
          </p:nvSpPr>
          <p:spPr>
            <a:xfrm>
              <a:off x="0" y="0"/>
              <a:ext cx="86868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0F243E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4. DISCOUNT VS PROFIT MARGIN</a:t>
              </a:r>
              <a:endParaRPr b="0" sz="2400">
                <a:solidFill>
                  <a:srgbClr val="0F243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</p:grpSp>
      <p:grpSp>
        <p:nvGrpSpPr>
          <p:cNvPr id="166" name="Google Shape;166;p5"/>
          <p:cNvGrpSpPr/>
          <p:nvPr/>
        </p:nvGrpSpPr>
        <p:grpSpPr>
          <a:xfrm>
            <a:off x="228600" y="714375"/>
            <a:ext cx="8686800" cy="476400"/>
            <a:chOff x="0" y="0"/>
            <a:chExt cx="8686800" cy="476400"/>
          </a:xfrm>
        </p:grpSpPr>
        <p:sp>
          <p:nvSpPr>
            <p:cNvPr id="167" name="Google Shape;167;p5"/>
            <p:cNvSpPr/>
            <p:nvPr/>
          </p:nvSpPr>
          <p:spPr>
            <a:xfrm>
              <a:off x="0" y="0"/>
              <a:ext cx="86868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5"/>
            <p:cNvSpPr txBox="1"/>
            <p:nvPr/>
          </p:nvSpPr>
          <p:spPr>
            <a:xfrm>
              <a:off x="0" y="0"/>
              <a:ext cx="86868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Profit margin keeps falling as discounts increase, dropping from </a:t>
              </a:r>
              <a:r>
                <a:rPr b="1" lang="en-US" sz="1300">
                  <a:solidFill>
                    <a:srgbClr val="0F243E"/>
                  </a:solidFill>
                  <a:latin typeface="Inter"/>
                  <a:ea typeface="Inter"/>
                  <a:cs typeface="Inter"/>
                  <a:sym typeface="Inter"/>
                </a:rPr>
                <a:t>49.15% at 0% discount</a:t>
              </a:r>
              <a:r>
                <a:rPr b="0" lang="en-US" sz="13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to </a:t>
              </a:r>
              <a:r>
                <a:rPr b="1" lang="en-US" sz="1300">
                  <a:solidFill>
                    <a:srgbClr val="E36C09"/>
                  </a:solidFill>
                  <a:latin typeface="Inter"/>
                  <a:ea typeface="Inter"/>
                  <a:cs typeface="Inter"/>
                  <a:sym typeface="Inter"/>
                </a:rPr>
                <a:t>32.18% at 25% discount</a:t>
              </a:r>
              <a:r>
                <a:rPr b="0" lang="en-US" sz="13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.</a:t>
              </a:r>
              <a:endParaRPr b="0" sz="130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69" name="Google Shape;169;p5"/>
          <p:cNvGrpSpPr/>
          <p:nvPr/>
        </p:nvGrpSpPr>
        <p:grpSpPr>
          <a:xfrm>
            <a:off x="228600" y="1333500"/>
            <a:ext cx="8686800" cy="3905400"/>
            <a:chOff x="0" y="0"/>
            <a:chExt cx="8686800" cy="3905400"/>
          </a:xfrm>
        </p:grpSpPr>
        <p:sp>
          <p:nvSpPr>
            <p:cNvPr id="170" name="Google Shape;170;p5"/>
            <p:cNvSpPr/>
            <p:nvPr/>
          </p:nvSpPr>
          <p:spPr>
            <a:xfrm>
              <a:off x="0" y="0"/>
              <a:ext cx="8686800" cy="3905400"/>
            </a:xfrm>
            <a:prstGeom prst="roundRect">
              <a:avLst>
                <a:gd fmla="val 195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1" name="Google Shape;171;p5"/>
            <p:cNvPicPr preferRelativeResize="0"/>
            <p:nvPr/>
          </p:nvPicPr>
          <p:blipFill rotWithShape="1">
            <a:blip r:embed="rId4">
              <a:alphaModFix/>
            </a:blip>
            <a:srcRect b="3695" l="0" r="0" t="3686"/>
            <a:stretch/>
          </p:blipFill>
          <p:spPr>
            <a:xfrm>
              <a:off x="228600" y="142875"/>
              <a:ext cx="8229600" cy="3619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2" name="Google Shape;172;p5"/>
          <p:cNvGrpSpPr/>
          <p:nvPr/>
        </p:nvGrpSpPr>
        <p:grpSpPr>
          <a:xfrm>
            <a:off x="228600" y="5476875"/>
            <a:ext cx="8686800" cy="1047900"/>
            <a:chOff x="0" y="0"/>
            <a:chExt cx="8686800" cy="1047900"/>
          </a:xfrm>
        </p:grpSpPr>
        <p:sp>
          <p:nvSpPr>
            <p:cNvPr id="173" name="Google Shape;173;p5"/>
            <p:cNvSpPr/>
            <p:nvPr/>
          </p:nvSpPr>
          <p:spPr>
            <a:xfrm>
              <a:off x="0" y="0"/>
              <a:ext cx="8686800" cy="1047900"/>
            </a:xfrm>
            <a:prstGeom prst="roundRect">
              <a:avLst>
                <a:gd fmla="val 7272" name="adj"/>
              </a:avLst>
            </a:prstGeom>
            <a:solidFill>
              <a:srgbClr val="FFF7ED"/>
            </a:solidFill>
            <a:ln cap="flat" cmpd="sng" w="9525">
              <a:solidFill>
                <a:srgbClr val="FFED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0" y="0"/>
              <a:ext cx="57300" cy="1047900"/>
            </a:xfrm>
            <a:prstGeom prst="roundRect">
              <a:avLst>
                <a:gd fmla="val 50000" name="adj"/>
              </a:avLst>
            </a:prstGeom>
            <a:solidFill>
              <a:srgbClr val="FF9F1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5"/>
            <p:cNvSpPr txBox="1"/>
            <p:nvPr/>
          </p:nvSpPr>
          <p:spPr>
            <a:xfrm>
              <a:off x="228600" y="0"/>
              <a:ext cx="82296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9525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FF9F1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Key Takeaway </a:t>
              </a:r>
              <a:r>
                <a:rPr b="0" lang="en-US" sz="1250">
                  <a:solidFill>
                    <a:srgbClr val="1E293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Higher discounts are hurting profitability, so keeping discounts at a moderate level could help the business maintain better profit margins.</a:t>
              </a:r>
              <a:endParaRPr b="0" sz="1100">
                <a:solidFill>
                  <a:srgbClr val="FF9F1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"/>
          <p:cNvSpPr/>
          <p:nvPr/>
        </p:nvSpPr>
        <p:spPr>
          <a:xfrm>
            <a:off x="152400" y="1219200"/>
            <a:ext cx="3276600" cy="5334000"/>
          </a:xfrm>
          <a:prstGeom prst="roundRect">
            <a:avLst>
              <a:gd fmla="val 16667" name="adj"/>
            </a:avLst>
          </a:prstGeom>
          <a:solidFill>
            <a:srgbClr val="B7CCE4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43E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 txBox="1"/>
          <p:nvPr>
            <p:ph type="title"/>
          </p:nvPr>
        </p:nvSpPr>
        <p:spPr>
          <a:xfrm>
            <a:off x="0" y="0"/>
            <a:ext cx="9144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n-US" sz="3200">
                <a:solidFill>
                  <a:schemeClr val="lt1"/>
                </a:solidFill>
              </a:rPr>
              <a:t>5.PROFIT PERFORMANCE BY CATEGORY &amp; PRODUCT</a:t>
            </a:r>
            <a:endParaRPr sz="3200">
              <a:solidFill>
                <a:schemeClr val="lt1"/>
              </a:solidFill>
            </a:endParaRPr>
          </a:p>
        </p:txBody>
      </p:sp>
      <p:sp>
        <p:nvSpPr>
          <p:cNvPr id="183" name="Google Shape;183;p6"/>
          <p:cNvSpPr txBox="1"/>
          <p:nvPr>
            <p:ph idx="1" type="body"/>
          </p:nvPr>
        </p:nvSpPr>
        <p:spPr>
          <a:xfrm>
            <a:off x="152400" y="1600200"/>
            <a:ext cx="3276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1. Meals is the strongest profit-generating category.</a:t>
            </a:r>
            <a:br>
              <a:rPr lang="en-US"/>
            </a:br>
            <a:r>
              <a:rPr lang="en-US"/>
              <a:t>Veg Biryani leads with </a:t>
            </a:r>
            <a:r>
              <a:rPr b="1" lang="en-US"/>
              <a:t>0.96M profit</a:t>
            </a:r>
            <a:r>
              <a:rPr lang="en-US"/>
              <a:t>, followed by Chicken Biryani (</a:t>
            </a:r>
            <a:r>
              <a:rPr b="1" lang="en-US"/>
              <a:t>0.92M</a:t>
            </a:r>
            <a:r>
              <a:rPr lang="en-US"/>
              <a:t>) and Chicken Burger (</a:t>
            </a:r>
            <a:r>
              <a:rPr b="1" lang="en-US"/>
              <a:t>0.91M</a:t>
            </a:r>
            <a:r>
              <a:rPr lang="en-US"/>
              <a:t>). This shows that meal products are the main contributors to overall profitability.</a:t>
            </a:r>
            <a:endParaRPr/>
          </a:p>
          <a:p>
            <a:pPr indent="-24638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2. Snacks also make a strong contribution to profit.</a:t>
            </a:r>
            <a:br>
              <a:rPr lang="en-US"/>
            </a:br>
            <a:r>
              <a:rPr lang="en-US"/>
              <a:t>French Fries (</a:t>
            </a:r>
            <a:r>
              <a:rPr b="1" lang="en-US"/>
              <a:t>0.64M</a:t>
            </a:r>
            <a:r>
              <a:rPr lang="en-US"/>
              <a:t>) and Veg Sandwich (</a:t>
            </a:r>
            <a:r>
              <a:rPr b="1" lang="en-US"/>
              <a:t>0.63M</a:t>
            </a:r>
            <a:r>
              <a:rPr lang="en-US"/>
              <a:t>) are the top-performing snack products. These products could be promoted further to support profit growth.</a:t>
            </a:r>
            <a:endParaRPr/>
          </a:p>
          <a:p>
            <a:pPr indent="-24638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3. Beverages have comparatively lower profit contribution.</a:t>
            </a:r>
            <a:br>
              <a:rPr lang="en-US"/>
            </a:br>
            <a:r>
              <a:rPr lang="en-US"/>
              <a:t>Cold Coffee generates the highest beverage profit at </a:t>
            </a:r>
            <a:r>
              <a:rPr b="1" lang="en-US"/>
              <a:t>0.59M</a:t>
            </a:r>
            <a:r>
              <a:rPr lang="en-US"/>
              <a:t>, while Masala Tea contributes </a:t>
            </a:r>
            <a:r>
              <a:rPr b="1" lang="en-US"/>
              <a:t>0.44M</a:t>
            </a:r>
            <a:r>
              <a:rPr lang="en-US"/>
              <a:t>. Improving sales of high-potential beverages could create an additional profit opportunity.</a:t>
            </a:r>
            <a:endParaRPr/>
          </a:p>
          <a:p>
            <a:pPr indent="-24638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descr="C:\Users\HP\Downloads\ChatGPT Image Aug 11, 2026, 05_41_47 PM.png" id="184" name="Google Shape;18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0" y="1219200"/>
            <a:ext cx="5714998" cy="3886199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6"/>
          <p:cNvSpPr/>
          <p:nvPr/>
        </p:nvSpPr>
        <p:spPr>
          <a:xfrm>
            <a:off x="3429000" y="1219200"/>
            <a:ext cx="5562600" cy="30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F243E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 txBox="1"/>
          <p:nvPr>
            <p:ph type="title"/>
          </p:nvPr>
        </p:nvSpPr>
        <p:spPr>
          <a:xfrm>
            <a:off x="0" y="0"/>
            <a:ext cx="8686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</a:rPr>
              <a:t>6.EXECUTIVE DASHBOARD</a:t>
            </a:r>
            <a:endParaRPr b="1" sz="3200">
              <a:solidFill>
                <a:schemeClr val="lt1"/>
              </a:solidFill>
            </a:endParaRPr>
          </a:p>
        </p:txBody>
      </p:sp>
      <p:pic>
        <p:nvPicPr>
          <p:cNvPr id="192" name="Google Shape;192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62000"/>
            <a:ext cx="9144000" cy="60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oogle Shape;197;p8"/>
          <p:cNvGrpSpPr/>
          <p:nvPr/>
        </p:nvGrpSpPr>
        <p:grpSpPr>
          <a:xfrm>
            <a:off x="381000" y="381000"/>
            <a:ext cx="8382000" cy="476400"/>
            <a:chOff x="0" y="0"/>
            <a:chExt cx="8382000" cy="476400"/>
          </a:xfrm>
        </p:grpSpPr>
        <p:sp>
          <p:nvSpPr>
            <p:cNvPr id="198" name="Google Shape;198;p8"/>
            <p:cNvSpPr txBox="1"/>
            <p:nvPr/>
          </p:nvSpPr>
          <p:spPr>
            <a:xfrm>
              <a:off x="0" y="0"/>
              <a:ext cx="838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0F243E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7. STRATEGIES FOR PROFIT GROWTH</a:t>
              </a:r>
              <a:endParaRPr b="0" sz="2400">
                <a:solidFill>
                  <a:srgbClr val="0F243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199" name="Google Shape;199;p8"/>
            <p:cNvSpPr/>
            <p:nvPr/>
          </p:nvSpPr>
          <p:spPr>
            <a:xfrm>
              <a:off x="0" y="419100"/>
              <a:ext cx="762000" cy="38100"/>
            </a:xfrm>
            <a:prstGeom prst="rect">
              <a:avLst/>
            </a:prstGeom>
            <a:solidFill>
              <a:srgbClr val="FF9F1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0" name="Google Shape;200;p8"/>
          <p:cNvGrpSpPr/>
          <p:nvPr/>
        </p:nvGrpSpPr>
        <p:grpSpPr>
          <a:xfrm>
            <a:off x="381000" y="1143000"/>
            <a:ext cx="4048200" cy="5334000"/>
            <a:chOff x="0" y="0"/>
            <a:chExt cx="4048200" cy="5334000"/>
          </a:xfrm>
        </p:grpSpPr>
        <p:sp>
          <p:nvSpPr>
            <p:cNvPr id="201" name="Google Shape;201;p8"/>
            <p:cNvSpPr/>
            <p:nvPr/>
          </p:nvSpPr>
          <p:spPr>
            <a:xfrm>
              <a:off x="0" y="0"/>
              <a:ext cx="4048200" cy="5334000"/>
            </a:xfrm>
            <a:prstGeom prst="roundRect">
              <a:avLst>
                <a:gd fmla="val 376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8"/>
            <p:cNvSpPr/>
            <p:nvPr/>
          </p:nvSpPr>
          <p:spPr>
            <a:xfrm>
              <a:off x="0" y="0"/>
              <a:ext cx="4048200" cy="76200"/>
            </a:xfrm>
            <a:prstGeom prst="roundRect">
              <a:avLst>
                <a:gd fmla="val 50000" name="adj"/>
              </a:avLst>
            </a:prstGeom>
            <a:solidFill>
              <a:srgbClr val="FF9F1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8"/>
            <p:cNvSpPr txBox="1"/>
            <p:nvPr/>
          </p:nvSpPr>
          <p:spPr>
            <a:xfrm>
              <a:off x="228600" y="266700"/>
              <a:ext cx="3591000" cy="48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FF9F1C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⚡ Quick Wins</a:t>
              </a:r>
              <a:endParaRPr b="0" sz="1600">
                <a:solidFill>
                  <a:srgbClr val="FF9F1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Products to Promote &amp; Discount Adjustments</a:t>
              </a:r>
              <a:endParaRPr b="1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243E"/>
                  </a:solidFill>
                  <a:latin typeface="Inter"/>
                  <a:ea typeface="Inter"/>
                  <a:cs typeface="Inter"/>
                  <a:sym typeface="Inter"/>
                </a:rPr>
                <a:t>Promote Veg Biryani</a:t>
              </a:r>
              <a:r>
                <a:rPr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– Highest profit contributor at </a:t>
              </a:r>
              <a:r>
                <a:rPr b="1" lang="en-US" sz="1100">
                  <a:solidFill>
                    <a:srgbClr val="FF9F1C"/>
                  </a:solidFill>
                  <a:latin typeface="Inter"/>
                  <a:ea typeface="Inter"/>
                  <a:cs typeface="Inter"/>
                  <a:sym typeface="Inter"/>
                </a:rPr>
                <a:t>0.96M</a:t>
              </a:r>
              <a:r>
                <a:rPr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; increase visibility and promotions.</a:t>
              </a:r>
              <a:endParaRPr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243E"/>
                  </a:solidFill>
                  <a:latin typeface="Inter"/>
                  <a:ea typeface="Inter"/>
                  <a:cs typeface="Inter"/>
                  <a:sym typeface="Inter"/>
                </a:rPr>
                <a:t>Promote Chicken Biryani &amp; Chicken Burger</a:t>
              </a:r>
              <a:r>
                <a:rPr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– Both generate around </a:t>
              </a:r>
              <a:r>
                <a:rPr b="1" lang="en-US" sz="1100">
                  <a:solidFill>
                    <a:srgbClr val="0F243E"/>
                  </a:solidFill>
                  <a:latin typeface="Inter"/>
                  <a:ea typeface="Inter"/>
                  <a:cs typeface="Inter"/>
                  <a:sym typeface="Inter"/>
                </a:rPr>
                <a:t>0.92M and 0.91M profit</a:t>
              </a:r>
              <a:r>
                <a:rPr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making them strong products for targeted campaigns.</a:t>
              </a:r>
              <a:endParaRPr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243E"/>
                  </a:solidFill>
                  <a:latin typeface="Inter"/>
                  <a:ea typeface="Inter"/>
                  <a:cs typeface="Inter"/>
                  <a:sym typeface="Inter"/>
                </a:rPr>
                <a:t>Push high-profit Snacks</a:t>
              </a:r>
              <a:r>
                <a:rPr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– Promote </a:t>
              </a:r>
              <a:r>
                <a:rPr b="1" lang="en-US" sz="1100">
                  <a:solidFill>
                    <a:srgbClr val="0F243E"/>
                  </a:solidFill>
                  <a:latin typeface="Inter"/>
                  <a:ea typeface="Inter"/>
                  <a:cs typeface="Inter"/>
                  <a:sym typeface="Inter"/>
                </a:rPr>
                <a:t>French Fries (0.64M)</a:t>
              </a:r>
              <a:r>
                <a:rPr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and </a:t>
              </a:r>
              <a:r>
                <a:rPr b="1" lang="en-US" sz="1100">
                  <a:solidFill>
                    <a:srgbClr val="0F243E"/>
                  </a:solidFill>
                  <a:latin typeface="Inter"/>
                  <a:ea typeface="Inter"/>
                  <a:cs typeface="Inter"/>
                  <a:sym typeface="Inter"/>
                </a:rPr>
                <a:t>Veg Sandwich (0.63M)</a:t>
              </a:r>
              <a:r>
                <a:rPr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to support additional profit growth.</a:t>
              </a:r>
              <a:endParaRPr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243E"/>
                  </a:solidFill>
                  <a:latin typeface="Inter"/>
                  <a:ea typeface="Inter"/>
                  <a:cs typeface="Inter"/>
                  <a:sym typeface="Inter"/>
                </a:rPr>
                <a:t>Reduce heavy discounts</a:t>
              </a:r>
              <a:r>
                <a:rPr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– Profit margin falls from </a:t>
              </a:r>
              <a:r>
                <a:rPr b="1" lang="en-US" sz="1100">
                  <a:solidFill>
                    <a:srgbClr val="E36C09"/>
                  </a:solidFill>
                  <a:latin typeface="Inter"/>
                  <a:ea typeface="Inter"/>
                  <a:cs typeface="Inter"/>
                  <a:sym typeface="Inter"/>
                </a:rPr>
                <a:t>49.15% at 0% discount to 32.18% at 25% discount</a:t>
              </a:r>
              <a:r>
                <a:rPr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; avoid unnecessary high discounts.</a:t>
              </a:r>
              <a:endParaRPr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243E"/>
                  </a:solidFill>
                  <a:latin typeface="Inter"/>
                  <a:ea typeface="Inter"/>
                  <a:cs typeface="Inter"/>
                  <a:sym typeface="Inter"/>
                </a:rPr>
                <a:t>Review Veg Burger &amp; Paneer Butter Chicken pricing</a:t>
              </a:r>
              <a:r>
                <a:rPr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– These products have strong sales but weaker profit, so improve their pricing and/or costs.</a:t>
              </a:r>
              <a:endParaRPr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4" name="Google Shape;204;p8"/>
          <p:cNvGrpSpPr/>
          <p:nvPr/>
        </p:nvGrpSpPr>
        <p:grpSpPr>
          <a:xfrm>
            <a:off x="4714875" y="1143000"/>
            <a:ext cx="4048200" cy="5334000"/>
            <a:chOff x="0" y="0"/>
            <a:chExt cx="4048200" cy="5334000"/>
          </a:xfrm>
        </p:grpSpPr>
        <p:sp>
          <p:nvSpPr>
            <p:cNvPr id="205" name="Google Shape;205;p8"/>
            <p:cNvSpPr/>
            <p:nvPr/>
          </p:nvSpPr>
          <p:spPr>
            <a:xfrm>
              <a:off x="0" y="0"/>
              <a:ext cx="4048200" cy="5334000"/>
            </a:xfrm>
            <a:prstGeom prst="roundRect">
              <a:avLst>
                <a:gd fmla="val 376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8"/>
            <p:cNvSpPr/>
            <p:nvPr/>
          </p:nvSpPr>
          <p:spPr>
            <a:xfrm>
              <a:off x="0" y="0"/>
              <a:ext cx="4048200" cy="76200"/>
            </a:xfrm>
            <a:prstGeom prst="roundRect">
              <a:avLst>
                <a:gd fmla="val 50000" name="adj"/>
              </a:avLst>
            </a:prstGeom>
            <a:solidFill>
              <a:srgbClr val="0F24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8"/>
            <p:cNvSpPr txBox="1"/>
            <p:nvPr/>
          </p:nvSpPr>
          <p:spPr>
            <a:xfrm>
              <a:off x="228600" y="266700"/>
              <a:ext cx="3591000" cy="48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0F243E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📈 Long-Term Strategies</a:t>
              </a:r>
              <a:endParaRPr b="0" sz="1600">
                <a:solidFill>
                  <a:srgbClr val="0F243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Pricing, Bundling &amp; Category Focus</a:t>
              </a:r>
              <a:endParaRPr b="1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243E"/>
                  </a:solidFill>
                  <a:latin typeface="Inter"/>
                  <a:ea typeface="Inter"/>
                  <a:cs typeface="Inter"/>
                  <a:sym typeface="Inter"/>
                </a:rPr>
                <a:t>Implement price optimization</a:t>
              </a:r>
              <a:r>
                <a:rPr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– Review pricing for products with strong sales but lower profitability, especially </a:t>
              </a:r>
              <a:r>
                <a:rPr b="1" lang="en-US" sz="1100">
                  <a:solidFill>
                    <a:srgbClr val="0F243E"/>
                  </a:solidFill>
                  <a:latin typeface="Inter"/>
                  <a:ea typeface="Inter"/>
                  <a:cs typeface="Inter"/>
                  <a:sym typeface="Inter"/>
                </a:rPr>
                <a:t>Veg Burger and Paneer Butter Chicken</a:t>
              </a:r>
              <a:r>
                <a:rPr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243E"/>
                  </a:solidFill>
                  <a:latin typeface="Inter"/>
                  <a:ea typeface="Inter"/>
                  <a:cs typeface="Inter"/>
                  <a:sym typeface="Inter"/>
                </a:rPr>
                <a:t>Build profitable bundles</a:t>
              </a:r>
              <a:r>
                <a:rPr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– Bundle high-profit meals such as </a:t>
              </a:r>
              <a:r>
                <a:rPr b="1" lang="en-US" sz="1100">
                  <a:solidFill>
                    <a:srgbClr val="0F243E"/>
                  </a:solidFill>
                  <a:latin typeface="Inter"/>
                  <a:ea typeface="Inter"/>
                  <a:cs typeface="Inter"/>
                  <a:sym typeface="Inter"/>
                </a:rPr>
                <a:t>Veg Biryani, Chicken Biryani, or Chicken Burger</a:t>
              </a:r>
              <a:r>
                <a:rPr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with snacks or beverages to increase order value.</a:t>
              </a:r>
              <a:endParaRPr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243E"/>
                  </a:solidFill>
                  <a:latin typeface="Inter"/>
                  <a:ea typeface="Inter"/>
                  <a:cs typeface="Inter"/>
                  <a:sym typeface="Inter"/>
                </a:rPr>
                <a:t>Focus on the Meals category</a:t>
              </a:r>
              <a:r>
                <a:rPr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– Meals are the </a:t>
              </a:r>
              <a:r>
                <a:rPr b="1" lang="en-US" sz="1100">
                  <a:solidFill>
                    <a:srgbClr val="0F243E"/>
                  </a:solidFill>
                  <a:latin typeface="Inter"/>
                  <a:ea typeface="Inter"/>
                  <a:cs typeface="Inter"/>
                  <a:sym typeface="Inter"/>
                </a:rPr>
                <a:t>largest profit contributor</a:t>
              </a:r>
              <a:r>
                <a:rPr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generating more than two-thirds of total profit.</a:t>
              </a:r>
              <a:endParaRPr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243E"/>
                  </a:solidFill>
                  <a:latin typeface="Inter"/>
                  <a:ea typeface="Inter"/>
                  <a:cs typeface="Inter"/>
                  <a:sym typeface="Inter"/>
                </a:rPr>
                <a:t>Strengthen the Beverage category</a:t>
              </a:r>
              <a:r>
                <a:rPr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– Focus on higher-potential beverages such as </a:t>
              </a:r>
              <a:r>
                <a:rPr b="1" lang="en-US" sz="1100">
                  <a:solidFill>
                    <a:srgbClr val="0F243E"/>
                  </a:solidFill>
                  <a:latin typeface="Inter"/>
                  <a:ea typeface="Inter"/>
                  <a:cs typeface="Inter"/>
                  <a:sym typeface="Inter"/>
                </a:rPr>
                <a:t>Cold Coffee</a:t>
              </a:r>
              <a:r>
                <a:rPr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which leads beverage profit at </a:t>
              </a:r>
              <a:r>
                <a:rPr b="1" lang="en-US" sz="1100">
                  <a:solidFill>
                    <a:srgbClr val="0F243E"/>
                  </a:solidFill>
                  <a:latin typeface="Inter"/>
                  <a:ea typeface="Inter"/>
                  <a:cs typeface="Inter"/>
                  <a:sym typeface="Inter"/>
                </a:rPr>
                <a:t>0.59M</a:t>
              </a:r>
              <a:r>
                <a:rPr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while improving overall beverage sales.</a:t>
              </a:r>
              <a:endParaRPr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243E"/>
                  </a:solidFill>
                  <a:latin typeface="Inter"/>
                  <a:ea typeface="Inter"/>
                  <a:cs typeface="Inter"/>
                  <a:sym typeface="Inter"/>
                </a:rPr>
                <a:t>Plan seasonal campaigns around Q4</a:t>
              </a:r>
              <a:r>
                <a:rPr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– November–December and Q4 show the strongest performance, so prepare inventory, promotions, and campaigns ahead of the festive season.</a:t>
              </a:r>
              <a:endParaRPr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hatGPT Image Aug 10, 2026, 02_55_37 PM.png" id="213" name="Google Shape;213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716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9"/>
          <p:cNvSpPr txBox="1"/>
          <p:nvPr/>
        </p:nvSpPr>
        <p:spPr>
          <a:xfrm>
            <a:off x="0" y="1905000"/>
            <a:ext cx="5105400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Algerian"/>
                <a:ea typeface="Algerian"/>
                <a:cs typeface="Algerian"/>
                <a:sym typeface="Algerian"/>
              </a:rPr>
              <a:t>          </a:t>
            </a:r>
            <a:r>
              <a:rPr lang="en-US" sz="2800">
                <a:solidFill>
                  <a:schemeClr val="lt1"/>
                </a:solidFill>
                <a:latin typeface="Algerian"/>
                <a:ea typeface="Algerian"/>
                <a:cs typeface="Algerian"/>
                <a:sym typeface="Algerian"/>
              </a:rPr>
              <a:t> TASTYBITES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lgerian"/>
                <a:ea typeface="Algerian"/>
                <a:cs typeface="Algerian"/>
                <a:sym typeface="Algerian"/>
              </a:rPr>
              <a:t>       </a:t>
            </a:r>
            <a:r>
              <a:rPr lang="en-US" sz="4800">
                <a:solidFill>
                  <a:schemeClr val="lt1"/>
                </a:solidFill>
                <a:latin typeface="Algerian"/>
                <a:ea typeface="Algerian"/>
                <a:cs typeface="Algerian"/>
                <a:sym typeface="Algerian"/>
              </a:rPr>
              <a:t>THANK YOU</a:t>
            </a:r>
            <a:endParaRPr sz="4800">
              <a:solidFill>
                <a:schemeClr val="lt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cxnSp>
        <p:nvCxnSpPr>
          <p:cNvPr id="215" name="Google Shape;215;p9"/>
          <p:cNvCxnSpPr/>
          <p:nvPr/>
        </p:nvCxnSpPr>
        <p:spPr>
          <a:xfrm flipH="1" rot="10800000">
            <a:off x="0" y="3276600"/>
            <a:ext cx="5181600" cy="7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" name="Google Shape;216;p9"/>
          <p:cNvSpPr txBox="1"/>
          <p:nvPr/>
        </p:nvSpPr>
        <p:spPr>
          <a:xfrm>
            <a:off x="3886200" y="6534834"/>
            <a:ext cx="5105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Prepared by: Chandan kumar chauhan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Submitted to: Senior Management &amp; Mentor Review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2026-08-10T09:25:49Z</dcterms:created>
  <dc:creator>HP</dc:creator>
</cp:coreProperties>
</file>